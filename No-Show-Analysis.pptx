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B6770"/>
                </a:solidFill>
                <a:latin typeface="Calibri"/>
              </a:rPr>
              <a:t>No-show rate by days between booking and visit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Same day</c:v>
                  </c:pt>
                  <c:pt idx="1">
                    <c:v>1–7</c:v>
                  </c:pt>
                  <c:pt idx="2">
                    <c:v>8–14</c:v>
                  </c:pt>
                  <c:pt idx="3">
                    <c:v>15–30</c:v>
                  </c:pt>
                  <c:pt idx="4">
                    <c:v>31–60</c:v>
                  </c:pt>
                  <c:pt idx="5">
                    <c:v>60+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4.6</c:v>
                </c:pt>
                <c:pt idx="1">
                  <c:v>24.1</c:v>
                </c:pt>
                <c:pt idx="2">
                  <c:v>30.5</c:v>
                </c:pt>
                <c:pt idx="3">
                  <c:v>32.6</c:v>
                </c:pt>
                <c:pt idx="4">
                  <c:v>34.2</c:v>
                </c:pt>
                <c:pt idx="5">
                  <c:v>28.4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B6770"/>
                </a:solidFill>
                <a:latin typeface="Calibri"/>
              </a:rPr>
              <a:t>No-show rate by patient 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0–12</c:v>
                  </c:pt>
                  <c:pt idx="1">
                    <c:v>13–18</c:v>
                  </c:pt>
                  <c:pt idx="2">
                    <c:v>19–30</c:v>
                  </c:pt>
                  <c:pt idx="3">
                    <c:v>31–45</c:v>
                  </c:pt>
                  <c:pt idx="4">
                    <c:v>46–60</c:v>
                  </c:pt>
                  <c:pt idx="5">
                    <c:v>61–75</c:v>
                  </c:pt>
                  <c:pt idx="6">
                    <c:v>76+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20.5</c:v>
                </c:pt>
                <c:pt idx="1">
                  <c:v>26.1</c:v>
                </c:pt>
                <c:pt idx="2">
                  <c:v>24.7</c:v>
                </c:pt>
                <c:pt idx="3">
                  <c:v>21.4</c:v>
                </c:pt>
                <c:pt idx="4">
                  <c:v>17.8</c:v>
                </c:pt>
                <c:pt idx="5">
                  <c:v>14.9</c:v>
                </c:pt>
                <c:pt idx="6">
                  <c:v>16.1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B6770"/>
                </a:solidFill>
                <a:latin typeface="Calibri"/>
              </a:rPr>
              <a:t>No-show rate by earlier missed visits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 prior</c:v>
                  </c:pt>
                  <c:pt idx="1">
                    <c:v>1 prior</c:v>
                  </c:pt>
                  <c:pt idx="2">
                    <c:v>2+ prior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25.1</c:v>
                </c:pt>
                <c:pt idx="2">
                  <c:v>32.1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B6770"/>
                </a:solidFill>
                <a:latin typeface="Calibri"/>
              </a:rPr>
              <a:t>No-show rate at the same wait length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SMS</c:v>
                </c:pt>
              </c:strCache>
            </c:strRef>
          </c:tx>
          <c:spPr>
            <a:solidFill>
              <a:srgbClr val="B8C4C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3–7 days</c:v>
                  </c:pt>
                  <c:pt idx="1">
                    <c:v>8–14</c:v>
                  </c:pt>
                  <c:pt idx="2">
                    <c:v>15–30</c:v>
                  </c:pt>
                  <c:pt idx="3">
                    <c:v>31+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26.6</c:v>
                </c:pt>
                <c:pt idx="1">
                  <c:v>33.8</c:v>
                </c:pt>
                <c:pt idx="2">
                  <c:v>36.9</c:v>
                </c:pt>
                <c:pt idx="3">
                  <c:v>37.5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SMS sent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3–7 days</c:v>
                  </c:pt>
                  <c:pt idx="1">
                    <c:v>8–14</c:v>
                  </c:pt>
                  <c:pt idx="2">
                    <c:v>15–30</c:v>
                  </c:pt>
                  <c:pt idx="3">
                    <c:v>31+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23.8</c:v>
                </c:pt>
                <c:pt idx="1">
                  <c:v>28.1</c:v>
                </c:pt>
                <c:pt idx="2">
                  <c:v>29.8</c:v>
                </c:pt>
                <c:pt idx="3">
                  <c:v>30.2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B677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B6770"/>
                </a:solidFill>
                <a:latin typeface="Calibri"/>
              </a:rPr>
              <a:t>No-show rate by weekday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B8C4C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20.6</c:v>
                </c:pt>
                <c:pt idx="1">
                  <c:v>20.1</c:v>
                </c:pt>
                <c:pt idx="2">
                  <c:v>19.7</c:v>
                </c:pt>
                <c:pt idx="3">
                  <c:v>19.3</c:v>
                </c:pt>
                <c:pt idx="4">
                  <c:v>21.2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 ranking</c:v>
                </c:pt>
              </c:strCache>
            </c:strRef>
          </c:tx>
          <c:spPr>
            <a:solidFill>
              <a:srgbClr val="028090"/>
            </a:solidFill>
            <a:ln w="254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21.7</c:v>
                </c:pt>
                <c:pt idx="2">
                  <c:v>37.8</c:v>
                </c:pt>
                <c:pt idx="3">
                  <c:v>53.8</c:v>
                </c:pt>
                <c:pt idx="4">
                  <c:v>66.1</c:v>
                </c:pt>
                <c:pt idx="5">
                  <c:v>78.2</c:v>
                </c:pt>
                <c:pt idx="6">
                  <c:v>88.5</c:v>
                </c:pt>
                <c:pt idx="7">
                  <c:v>95</c:v>
                </c:pt>
                <c:pt idx="8">
                  <c:v>96.9</c:v>
                </c:pt>
                <c:pt idx="9">
                  <c:v>98.6</c:v>
                </c:pt>
                <c:pt idx="10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calling</c:v>
                </c:pt>
              </c:strCache>
            </c:strRef>
          </c:tx>
          <c:spPr>
            <a:solidFill>
              <a:srgbClr val="B8C4C8"/>
            </a:solidFill>
            <a:ln w="25400" cap="flat">
              <a:solidFill>
                <a:srgbClr val="B8C4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4C8"/>
              </a:solidFill>
              <a:ln w="9525" cap="flat">
                <a:solidFill>
                  <a:srgbClr val="B8C4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770"/>
                    </a:solidFill>
                    <a:latin typeface="Arial"/>
                  </a:rPr>
                  <a:t>% of patients contacted (riskiest first)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9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770"/>
                    </a:solidFill>
                    <a:latin typeface="Arial"/>
                  </a:rPr>
                  <a:t>% of no-shows reached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77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7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Prior visits</c:v>
                  </c:pt>
                  <c:pt idx="1">
                    <c:v>Prior no-shows</c:v>
                  </c:pt>
                  <c:pt idx="2">
                    <c:v>SMS received</c:v>
                  </c:pt>
                  <c:pt idx="3">
                    <c:v>Age</c:v>
                  </c:pt>
                  <c:pt idx="4">
                    <c:v>Waiting days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0.032</c:v>
                </c:pt>
                <c:pt idx="1">
                  <c:v>0.039</c:v>
                </c:pt>
                <c:pt idx="2">
                  <c:v>0.055</c:v>
                </c:pt>
                <c:pt idx="3">
                  <c:v>0.109</c:v>
                </c:pt>
                <c:pt idx="4">
                  <c:v>0.711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5B67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cost: each no-show is a paid staff slot with no patient, and a delayed visit for someone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numbers make SMS look harmful (27.6% vs 16.7%) because SMS is only sent for appointments 3+ days out, which already have high no-show. Comparing within the same wait band removes that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10% riskiest contains 22% of no-shows; top 30% contains 54%. Random outreach would reach 10% and 30%.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Misses the Appointment?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patient no-shows so a clinic can act before the empty slot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 Sai Dintakurthi  ·  110,521 appointments  ·  Python, scikit-learn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BUSINESS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 five appointments goes unused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20.2%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110,521 appointments were missed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22,300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slots another patient could have used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155448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737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05740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 can't call every patient before every visit.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upcoming appointments are most likely to be missed,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what should the clinic do about them?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public clinics in Vitória, Brazil (Kaggle, 2016).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EXPLORATORY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 time is the strongest signal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2588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37160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187452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visits: 4.6%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no-show, and they're 35% of all bookings.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one week, ~1 in 3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patients miss.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the gap, the more a reminder matters.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EXPLORATORY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Teens and young adults miss the most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13–18: 26.1%, 19–30: 24.7%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highest of any group.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60s are most reliable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(15–16%).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 under-30s by text; for minors, remind the parent.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749040" y="132588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EXPLORATORY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predicts behavior, and SMS helps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25880"/>
          <a:ext cx="39319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32588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886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earlier no-shows → 32.1%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19.2% for a clean record. Flag at booking.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754880" y="3886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lowers no-shows 3–7 pts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every wait length, yet 41% of eligible patients never got one.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EXPLORATORY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doesn't move the needle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2588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417320"/>
          <a:ext cx="3749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937760" y="29260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Weekday: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Mon–Fri all within 19–21%. Rescheduling by day won't help.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conditions: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patients miss the same or less. Don't target by diagnosis.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risk score for every upcoming appointment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3F7F7"/>
          </a:solidFill>
          <a:ln w="12700">
            <a:solidFill>
              <a:srgbClr val="F3F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PREPROCESSING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rank patients so staff call the riskiest first.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date bug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had dropped 38.5K same-day rows (35% of data).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no-shows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from earlier visits only, so there's no look-ahead.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judged on accuracy: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'always show' already scores 79.8%.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73152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E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663440" y="3063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and precision are for the no-show class, on a 20% held-out test set. Imbalance handled with balanced class weights.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3840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catches 8 in 10 no-shows.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30% of patients, reach 54% of no-shows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2588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417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SCORE</a:t>
            </a:r>
            <a:endParaRPr lang="en-US" sz="10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5577840" y="1645920"/>
          <a:ext cx="32004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669280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learned the same patterns the EDA shows, led by wait time.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INSIGHTS &amp; 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moves, ordered by 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appointments nightly and call the top 30%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54% of no-shows with 30% of the effort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029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every appointment booked 3+ days out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0299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cuts no-shows 3–7 pts; 41% of eligible patients get none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6883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more same-day slots; confirm long waits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6883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Same-day: 4.6% no-show vs 30%+ past one week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34670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under-30s and repeat no-shows at booking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3467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groups (25–32%)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5079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0050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targeting by weekday or diagnosis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40050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changes the no-show rate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recommendations 1 and 2 as an A/B test before a full rollout.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observational data from one city in 2016. The SMS effect is a correlation within wait bands, not a controlled experiment.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the clinic's own data. Add weather, distance and appointment type if available.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data: github.com/nagasai-data/healthcare-no-show-dashboard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Appointment No-Show Analysis</dc:title>
  <dc:subject>PptxGenJS Presentation</dc:subject>
  <dc:creator>Naga Sai Dintakurthi</dc:creator>
  <cp:lastModifiedBy>Naga Sai Dintakurthi</cp:lastModifiedBy>
  <cp:revision>1</cp:revision>
  <dcterms:created xsi:type="dcterms:W3CDTF">2026-09-23T17:41:21Z</dcterms:created>
  <dcterms:modified xsi:type="dcterms:W3CDTF">2026-09-23T17:41:21Z</dcterms:modified>
</cp:coreProperties>
</file>